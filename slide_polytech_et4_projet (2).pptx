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_rels/presentation.xml.rels" ContentType="application/vnd.openxmlformats-package.relationships+xml"/>
  <Override PartName="/ppt/media/image1.jpeg" ContentType="image/jpeg"/>
  <Override PartName="/ppt/media/image2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6575F99-3797-4834-BF56-56DBB29AF84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060F5C7-8707-434D-9C5E-3EC8765E7CC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B72A5C42-1934-417D-8866-8FB49AD5A93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FAF5A62E-B6D2-4001-A7E7-CAA11C34EC7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79094FE2-95DA-4101-94BC-515D04BF328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0720" cy="434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25840" y="1825560"/>
            <a:ext cx="5130720" cy="434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C8617EF3-5B86-49B8-AA33-801023BFC33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3D5C39A3-BF8D-44DB-9DF9-AE762C020C4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D3927E72-9AB5-42B5-B1FC-AD363B3B3B3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F8B045E7-9DC3-410C-AAE1-E473EB133BD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87BD2E3C-D147-4FAA-921C-BFDA5B04AD0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86B686BC-C535-4989-991B-E64BE4410EE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Cliquez pour éditer le format du texte-titre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0BDE711-8244-4B6E-89AB-6DD23B08F346}" type="slidenum"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6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Cliquez pour éditer le format du plan de texte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Second niveau de plan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pc="-1" strike="noStrike">
                <a:solidFill>
                  <a:srgbClr val="000000"/>
                </a:solidFill>
                <a:latin typeface="Arial"/>
              </a:rPr>
              <a:t>Troisième niveau de plan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Quatrième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Cinquième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Sixième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Septième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F35BC9F-D84C-4BDB-9E36-A184C937A670}" type="slidenum"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07533B5-926D-47E1-A41A-E313580663DD}" type="slidenum"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Cliquez pour éditer le format du texte-titre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Cliquez pour éditer le format du plan de texte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Second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Troisième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Quatrième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Cinquième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Sixième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Septième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0CCFEE5-8A20-4863-A815-033969B619AA}" type="slidenum"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81047E6-6494-4BB2-86DA-2EFFEE48E580}" type="slidenum"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Cliquez pour éditer le format du texte-titre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0720" cy="434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Cliquez pour éditer le format du plan de texte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Second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Troisième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Quatrième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Cinquième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Sixième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Septième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0720" cy="434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Cliquez pour éditer le format du plan de texte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Second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Troisième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Quatrième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Cinquième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Sixième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Septième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8FF2CB4-8160-4DC9-ABCD-7FD1CDF8207D}" type="slidenum"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sldNum" idx="20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1E66986-9B9D-4B25-AE86-E0ED11BBA867}" type="slidenum"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Cliquez pour éditer le format du texte-titre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95F3A5B-E284-4509-9B74-EC17E178F620}" type="slidenum"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ldNum" idx="26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F985EF6-A2D8-4806-9211-44262F2CF247}" type="slidenum"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ldNum" idx="29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AA667BB-93E7-4BE5-8120-E14318AE9B95}" type="slidenum"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ftr" idx="31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ldNum" idx="32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37D7EC5-1CF9-4112-BB40-5687664B1BB4}" type="slidenum"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hyperlink" Target="https://www.pythoniste.fr/docker/deployer-une-application-python-avec-docker/" TargetMode="External"/><Relationship Id="rId2" Type="http://schemas.openxmlformats.org/officeDocument/2006/relationships/hyperlink" Target="https://docs.docker.com/get-started/docker-concepts/building-images/writing-a-dockerfile/" TargetMode="External"/><Relationship Id="rId3" Type="http://schemas.openxmlformats.org/officeDocument/2006/relationships/hyperlink" Target="https://docs.docker.com/guides/python/containerize/" TargetMode="External"/><Relationship Id="rId4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0680" cy="68558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0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0680" cy="44110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1" name="Rectangl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6520" y="551880"/>
            <a:ext cx="10997640" cy="4617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algn="t" blurRad="139680" dir="5400000" dist="127080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1523880" y="1293480"/>
            <a:ext cx="9142560" cy="327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fr-FR" sz="7200" spc="-1" strike="noStrike">
                <a:solidFill>
                  <a:schemeClr val="dk1"/>
                </a:solidFill>
                <a:latin typeface="Calibri Light"/>
              </a:rPr>
              <a:t>Projet</a:t>
            </a:r>
            <a:endParaRPr b="0" lang="fr-FR" sz="7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subTitle"/>
          </p:nvPr>
        </p:nvSpPr>
        <p:spPr>
          <a:xfrm>
            <a:off x="1523880" y="5514120"/>
            <a:ext cx="9142560" cy="650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54" name="Straight Connector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>
            <a:off x="596160" y="6354360"/>
            <a:ext cx="11001960" cy="1440"/>
          </a:xfrm>
          <a:prstGeom prst="straightConnector1">
            <a:avLst/>
          </a:prstGeom>
          <a:ln w="101600">
            <a:solidFill>
              <a:srgbClr val="ffc000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withEffect" fill="hold" presetClass="entr" presetID="10">
                                  <p:stCondLst>
                                    <p:cond delay="50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0680" cy="68558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589680" y="856080"/>
            <a:ext cx="5277960" cy="112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fr-FR" sz="4000" spc="-1" strike="noStrike">
                <a:solidFill>
                  <a:schemeClr val="dk1"/>
                </a:solidFill>
                <a:latin typeface="Calibri Light"/>
              </a:rPr>
              <a:t>Projet IA ET4</a:t>
            </a:r>
            <a:endParaRPr b="0" lang="fr-FR" sz="40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7" name="Group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1083600"/>
            <a:ext cx="353880" cy="672120"/>
            <a:chOff x="0" y="1083600"/>
            <a:chExt cx="353880" cy="672120"/>
          </a:xfrm>
        </p:grpSpPr>
        <p:sp>
          <p:nvSpPr>
            <p:cNvPr id="58" name="Rectangle 2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1083600"/>
              <a:ext cx="86040" cy="67212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59" name="Rectangle 2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59480" y="1083600"/>
              <a:ext cx="194400" cy="67212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</p:grpSp>
      <p:sp>
        <p:nvSpPr>
          <p:cNvPr id="60" name="Rectangle 2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663480" y="2124000"/>
            <a:ext cx="4973760" cy="259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590760" y="2330640"/>
            <a:ext cx="5276520" cy="397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fr-FR" sz="1700" spc="-1" strike="noStrike">
                <a:solidFill>
                  <a:schemeClr val="dk1"/>
                </a:solidFill>
                <a:latin typeface="Calibri"/>
              </a:rPr>
              <a:t>Sujet</a:t>
            </a:r>
            <a:r>
              <a:rPr b="0" lang="fr-FR" sz="1700" spc="-1" strike="noStrike">
                <a:solidFill>
                  <a:schemeClr val="dk1"/>
                </a:solidFill>
                <a:latin typeface="Calibri"/>
              </a:rPr>
              <a:t> : </a:t>
            </a:r>
            <a:r>
              <a:rPr b="1" lang="fr-FR" sz="1700" spc="-1" strike="noStrike">
                <a:solidFill>
                  <a:schemeClr val="dk1"/>
                </a:solidFill>
                <a:latin typeface="Calibri"/>
              </a:rPr>
              <a:t>Clustering des images </a:t>
            </a:r>
            <a:endParaRPr b="0" lang="fr-FR" sz="1700" spc="-1" strike="noStrike">
              <a:solidFill>
                <a:srgbClr val="000000"/>
              </a:solidFill>
              <a:latin typeface="Arial"/>
            </a:endParaRPr>
          </a:p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fr-FR" sz="1700" spc="-1" strike="noStrike">
                <a:solidFill>
                  <a:schemeClr val="dk1"/>
                </a:solidFill>
                <a:latin typeface="Calibri"/>
              </a:rPr>
              <a:t>Données</a:t>
            </a:r>
            <a:r>
              <a:rPr b="0" lang="fr-FR" sz="1700" spc="-1" strike="noStrike">
                <a:solidFill>
                  <a:schemeClr val="dk1"/>
                </a:solidFill>
                <a:latin typeface="Calibri"/>
              </a:rPr>
              <a:t> : Snacks (data set de test) , 955 images réparties sur 20 classes</a:t>
            </a:r>
            <a:endParaRPr b="0" lang="fr-FR" sz="1700" spc="-1" strike="noStrike">
              <a:solidFill>
                <a:srgbClr val="000000"/>
              </a:solidFill>
              <a:latin typeface="Arial"/>
            </a:endParaRPr>
          </a:p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fr-FR" sz="1700" spc="-1" strike="noStrike">
                <a:solidFill>
                  <a:schemeClr val="dk1"/>
                </a:solidFill>
                <a:latin typeface="Calibri"/>
              </a:rPr>
              <a:t>Objectif</a:t>
            </a:r>
            <a:r>
              <a:rPr b="0" lang="fr-FR" sz="1700" spc="-1" strike="noStrike">
                <a:solidFill>
                  <a:schemeClr val="dk1"/>
                </a:solidFill>
                <a:latin typeface="Calibri"/>
              </a:rPr>
              <a:t> : Le but est de créer un modèle IA qui permet de regrouper les données sans se baser sur les labels déjà fournis. Il y agit donc d’une problématique de clustering. A travers ce projet, vous devez créer un modèle de clustering sur 20 clusters. </a:t>
            </a:r>
            <a:endParaRPr b="0" lang="fr-FR" sz="1700" spc="-1" strike="noStrike">
              <a:solidFill>
                <a:srgbClr val="000000"/>
              </a:solidFill>
              <a:latin typeface="Arial"/>
            </a:endParaRPr>
          </a:p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1700" spc="-1" strike="noStrike">
                <a:solidFill>
                  <a:schemeClr val="dk1"/>
                </a:solidFill>
                <a:latin typeface="Calibri"/>
                <a:ea typeface="Noto Sans CJK SC"/>
              </a:rPr>
              <a:t>Soit n la taille de votre groupe (2 </a:t>
            </a:r>
            <a:r>
              <a:rPr b="1" lang="fr-FR" sz="1800" spc="-1" strike="noStrike">
                <a:solidFill>
                  <a:schemeClr val="dk1"/>
                </a:solidFill>
                <a:latin typeface="Calibri"/>
                <a:ea typeface="Noto Sans CJK SC"/>
              </a:rPr>
              <a:t>≤ </a:t>
            </a:r>
            <a:r>
              <a:rPr b="0" lang="fr-FR" sz="1700" spc="-1" strike="noStrike">
                <a:solidFill>
                  <a:schemeClr val="dk1"/>
                </a:solidFill>
                <a:latin typeface="Calibri"/>
                <a:ea typeface="Noto Sans CJK SC"/>
              </a:rPr>
              <a:t>n</a:t>
            </a:r>
            <a:r>
              <a:rPr b="1" lang="fr-FR" sz="1800" spc="-1" strike="noStrike">
                <a:solidFill>
                  <a:schemeClr val="dk1"/>
                </a:solidFill>
                <a:latin typeface="Calibri"/>
                <a:ea typeface="Noto Sans CJK SC"/>
              </a:rPr>
              <a:t> ≤</a:t>
            </a:r>
            <a:r>
              <a:rPr b="0" lang="fr-FR" sz="1700" spc="-1" strike="noStrike">
                <a:solidFill>
                  <a:schemeClr val="dk1"/>
                </a:solidFill>
                <a:latin typeface="Calibri"/>
                <a:ea typeface="Noto Sans CJK SC"/>
              </a:rPr>
              <a:t> 3). Vous devez utiliser au moins n modèles de clustering (</a:t>
            </a:r>
            <a:r>
              <a:rPr b="1" lang="fr-FR" sz="1700" spc="-1" strike="noStrike">
                <a:solidFill>
                  <a:schemeClr val="dk1"/>
                </a:solidFill>
                <a:latin typeface="Calibri"/>
                <a:ea typeface="Noto Sans CJK SC"/>
              </a:rPr>
              <a:t>en plus</a:t>
            </a:r>
            <a:r>
              <a:rPr b="0" lang="fr-FR" sz="1700" spc="-1" strike="noStrike">
                <a:solidFill>
                  <a:schemeClr val="dk1"/>
                </a:solidFill>
                <a:latin typeface="Calibri"/>
                <a:ea typeface="Noto Sans CJK SC"/>
              </a:rPr>
              <a:t> de Kmeans) et expliquer vos choix. De même pour les descripteurs, vous devez implémenter n descripteurs (</a:t>
            </a:r>
            <a:r>
              <a:rPr b="1" lang="fr-FR" sz="1700" spc="-1" strike="noStrike">
                <a:solidFill>
                  <a:schemeClr val="dk1"/>
                </a:solidFill>
                <a:latin typeface="Calibri"/>
                <a:ea typeface="Noto Sans CJK SC"/>
              </a:rPr>
              <a:t>en plus</a:t>
            </a:r>
            <a:r>
              <a:rPr b="0" lang="fr-FR" sz="1700" spc="-1" strike="noStrike">
                <a:solidFill>
                  <a:schemeClr val="dk1"/>
                </a:solidFill>
                <a:latin typeface="Calibri"/>
                <a:ea typeface="Noto Sans CJK SC"/>
              </a:rPr>
              <a:t> de ceux du TP). Vous devez aussi choisir n métriques et pouvoir les expliquer.</a:t>
            </a:r>
            <a:endParaRPr b="0" lang="fr-F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Rectangle 2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0696320" y="0"/>
            <a:ext cx="1492920" cy="685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3" name="Rectangle 3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49720" y="357480"/>
            <a:ext cx="4844160" cy="2922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algn="t" blurRad="139680" dir="5400000" dist="127080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64" name="Image 4" descr="Une image contenant fruit, orange, agrume, Orange amère&#10;&#10;Description générée automatiquement"/>
          <p:cNvPicPr/>
          <p:nvPr/>
        </p:nvPicPr>
        <p:blipFill>
          <a:blip r:embed="rId1"/>
          <a:srcRect l="0" t="3381" r="0" b="9124"/>
          <a:stretch/>
        </p:blipFill>
        <p:spPr>
          <a:xfrm>
            <a:off x="7083360" y="581760"/>
            <a:ext cx="4395960" cy="2517480"/>
          </a:xfrm>
          <a:prstGeom prst="rect">
            <a:avLst/>
          </a:prstGeom>
          <a:ln w="0">
            <a:noFill/>
          </a:ln>
        </p:spPr>
      </p:pic>
      <p:sp>
        <p:nvSpPr>
          <p:cNvPr id="65" name="Rectangle 3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49720" y="3505320"/>
            <a:ext cx="4844160" cy="2922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algn="t" blurRad="139680" dir="5400000" dist="127080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66" name="Image 6" descr="Une image contenant nourriture, Snack, produits de boulangerie, dessert&#10;&#10;Description générée automatiquement"/>
          <p:cNvPicPr/>
          <p:nvPr/>
        </p:nvPicPr>
        <p:blipFill>
          <a:blip r:embed="rId2"/>
          <a:srcRect l="0" t="32066" r="0" b="24906"/>
          <a:stretch/>
        </p:blipFill>
        <p:spPr>
          <a:xfrm>
            <a:off x="7083360" y="3708000"/>
            <a:ext cx="4394160" cy="2517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" dur="indefinite" restart="never" nodeType="tmRoot">
          <p:childTnLst>
            <p:seq>
              <p:cTn id="9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nodeType="withEffect" fill="hold" presetClass="entr" presetID="10">
                                  <p:stCondLst>
                                    <p:cond delay="50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7" name="Rectangle 4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80" y="4320"/>
            <a:ext cx="12187440" cy="68565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" name="Rectangle 4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165920" cy="68565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14000" y="591480"/>
            <a:ext cx="3418200" cy="558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ffffff"/>
                </a:solidFill>
                <a:latin typeface="Calibri Light"/>
              </a:rPr>
              <a:t>Rendu Projet : Rapport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Arc 4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7550280" y="2452680"/>
            <a:ext cx="4082040" cy="4082040"/>
          </a:xfrm>
          <a:prstGeom prst="arc">
            <a:avLst>
              <a:gd name="adj1" fmla="val 16200000"/>
              <a:gd name="adj2" fmla="val 0"/>
            </a:avLst>
          </a:prstGeom>
          <a:noFill/>
          <a:ln cap="rnd" w="127000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1" name="ZoneTexte 4"/>
          <p:cNvSpPr/>
          <p:nvPr/>
        </p:nvSpPr>
        <p:spPr>
          <a:xfrm>
            <a:off x="4447440" y="591480"/>
            <a:ext cx="6905160" cy="558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marL="216000" indent="-228600" defTabSz="914400">
              <a:lnSpc>
                <a:spcPct val="90000"/>
              </a:lnSpc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Modalités de rendu : 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1" marL="457200" indent="-228600" defTabSz="914400">
              <a:lnSpc>
                <a:spcPct val="90000"/>
              </a:lnSpc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Dimanche 22 mars 23h59 Heure de Paris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1" marL="457200" indent="-228600" defTabSz="914400">
              <a:lnSpc>
                <a:spcPct val="90000"/>
              </a:lnSpc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Un fichier </a:t>
            </a: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pdf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 par groupe</a:t>
            </a:r>
            <a:br>
              <a:rPr sz="2000"/>
            </a:br>
            <a:r>
              <a:rPr b="0" i="1" lang="en-US" sz="20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28600" defTabSz="914400">
              <a:lnSpc>
                <a:spcPct val="90000"/>
              </a:lnSpc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Contenu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1" marL="457200" indent="-228600" defTabSz="914400">
              <a:lnSpc>
                <a:spcPct val="90000"/>
              </a:lnSpc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Explication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 des approches choisies </a:t>
            </a:r>
            <a:r>
              <a:rPr b="0" i="1" lang="en-US" sz="2000" spc="-1" strike="noStrike">
                <a:solidFill>
                  <a:schemeClr val="dk1"/>
                </a:solidFill>
                <a:latin typeface="Calibri"/>
              </a:rPr>
              <a:t>(descripteurs, modèles), et du fonctionnement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1" marL="457200" indent="-228600" defTabSz="914400">
              <a:lnSpc>
                <a:spcPct val="90000"/>
              </a:lnSpc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Explications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 des choix de </a:t>
            </a:r>
            <a:r>
              <a:rPr b="0" i="1" lang="en-US" sz="2000" spc="-1" strike="noStrike">
                <a:solidFill>
                  <a:schemeClr val="dk1"/>
                </a:solidFill>
                <a:latin typeface="Calibri"/>
              </a:rPr>
              <a:t>métriques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1" marL="457200" indent="-228600" defTabSz="914400">
              <a:lnSpc>
                <a:spcPct val="90000"/>
              </a:lnSpc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Evaluations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 et explications des </a:t>
            </a:r>
            <a:r>
              <a:rPr b="0" i="1" lang="en-US" sz="2000" spc="-1" strike="noStrike">
                <a:solidFill>
                  <a:schemeClr val="dk1"/>
                </a:solidFill>
                <a:latin typeface="Calibri"/>
              </a:rPr>
              <a:t>résultats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1" marL="457200" indent="-228600" defTabSz="914400">
              <a:lnSpc>
                <a:spcPct val="90000"/>
              </a:lnSpc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Répartition du travail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1" marL="457200" indent="-228600" defTabSz="914400">
              <a:lnSpc>
                <a:spcPct val="90000"/>
              </a:lnSpc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Pistes d’améliorations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1" marL="457200" indent="-228600" defTabSz="914400">
              <a:lnSpc>
                <a:spcPct val="90000"/>
              </a:lnSpc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Taille : autour de 10+5n pages (à 2 pages près)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1" marL="457200" indent="-228600" defTabSz="914400">
              <a:lnSpc>
                <a:spcPct val="90000"/>
              </a:lnSpc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Figures des résultats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2" name="Rectangl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80" y="4320"/>
            <a:ext cx="12187440" cy="68565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3" name="Rectangl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165920" cy="68565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20480" y="591480"/>
            <a:ext cx="3538800" cy="558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ffffff"/>
                </a:solidFill>
                <a:latin typeface="Calibri Light"/>
              </a:rPr>
              <a:t>Rendu Projet : Présentation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Arc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7550280" y="2452680"/>
            <a:ext cx="4082040" cy="4082040"/>
          </a:xfrm>
          <a:prstGeom prst="arc">
            <a:avLst>
              <a:gd name="adj1" fmla="val 16200000"/>
              <a:gd name="adj2" fmla="val 0"/>
            </a:avLst>
          </a:prstGeom>
          <a:noFill/>
          <a:ln cap="rnd" w="127000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6" name="ZoneTexte 6"/>
          <p:cNvSpPr/>
          <p:nvPr/>
        </p:nvSpPr>
        <p:spPr>
          <a:xfrm>
            <a:off x="4447440" y="591480"/>
            <a:ext cx="6905160" cy="558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93333"/>
          </a:bodyPr>
          <a:p>
            <a:pPr marL="216000" indent="-228600" defTabSz="914400">
              <a:lnSpc>
                <a:spcPct val="90000"/>
              </a:lnSpc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b="1" lang="en-US" sz="1800" spc="-1" strike="noStrike">
                <a:solidFill>
                  <a:schemeClr val="dk1"/>
                </a:solidFill>
                <a:latin typeface="Calibri"/>
              </a:rPr>
              <a:t>Contenu de la presentation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457200" indent="-228600" defTabSz="914400">
              <a:lnSpc>
                <a:spcPct val="90000"/>
              </a:lnSpc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Vendredi 27 mars matin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457200" indent="-228600" defTabSz="914400">
              <a:lnSpc>
                <a:spcPct val="90000"/>
              </a:lnSpc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10/15min de passage </a:t>
            </a:r>
            <a:r>
              <a:rPr b="0" i="1" lang="en-US" sz="1800" spc="-1" strike="noStrike">
                <a:solidFill>
                  <a:schemeClr val="dk1"/>
                </a:solidFill>
                <a:latin typeface="Calibri"/>
              </a:rPr>
              <a:t>(on verra en function du nombre de groupes)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457200" indent="-228600" defTabSz="914400">
              <a:lnSpc>
                <a:spcPct val="90000"/>
              </a:lnSpc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Présentation des résultats sous forme de dashboard avec streamlit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457200" indent="-228600" defTabSz="914400">
              <a:lnSpc>
                <a:spcPct val="90000"/>
              </a:lnSpc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Explication des choix (modèles, descripteurs, métriques, etc.)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457200" indent="-228600" defTabSz="914400">
              <a:lnSpc>
                <a:spcPct val="90000"/>
              </a:lnSpc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Prediction en direct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457200" indent="-228600" defTabSz="914400">
              <a:lnSpc>
                <a:spcPct val="90000"/>
              </a:lnSpc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Questions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228600" defTabSz="914400">
              <a:lnSpc>
                <a:spcPct val="90000"/>
              </a:lnSpc>
              <a:spcAft>
                <a:spcPts val="601"/>
              </a:spcAft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b="1" lang="en-US" sz="1800" spc="-1" strike="noStrike">
                <a:solidFill>
                  <a:schemeClr val="dk1"/>
                </a:solidFill>
                <a:latin typeface="Calibri"/>
              </a:rPr>
              <a:t>Contenu du Dashboard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457200" indent="-228600" defTabSz="914400">
              <a:lnSpc>
                <a:spcPct val="90000"/>
              </a:lnSpc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b="1" lang="en-US" sz="1800" spc="-1" strike="noStrike">
                <a:solidFill>
                  <a:schemeClr val="dk1"/>
                </a:solidFill>
                <a:latin typeface="Calibri"/>
              </a:rPr>
              <a:t>But :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représenter les résultats des expérimentations.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457200" indent="-228600" defTabSz="914400">
              <a:lnSpc>
                <a:spcPct val="90000"/>
              </a:lnSpc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Visualisation attendu :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2" marL="1085760" indent="-228600" defTabSz="914400">
              <a:lnSpc>
                <a:spcPct val="90000"/>
              </a:lnSpc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Exploration des données en 3D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2" marL="1085760" indent="-228600" defTabSz="914400">
              <a:lnSpc>
                <a:spcPct val="90000"/>
              </a:lnSpc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En fonction du cluster, du descripteur, du model clustering sélectionnés :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3" marL="1542960" indent="-228600" defTabSz="914400">
              <a:lnSpc>
                <a:spcPct val="90000"/>
              </a:lnSpc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Affichage d’une image exemple du cluster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3" marL="1542960" indent="-228600" defTabSz="914400">
              <a:lnSpc>
                <a:spcPct val="90000"/>
              </a:lnSpc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Affichage des métriques du clustering 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3" marL="1542960" indent="-228600" defTabSz="914400">
              <a:lnSpc>
                <a:spcPct val="90000"/>
              </a:lnSpc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Affichage d’un graphe de suivi du silhouette score : nombre de cluster de suivis : 5, 10, 15, 20, 25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7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80" y="4320"/>
            <a:ext cx="12187440" cy="68565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8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165920" cy="68565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20480" y="591480"/>
            <a:ext cx="3538800" cy="558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ffffff"/>
                </a:solidFill>
                <a:latin typeface="Calibri Light"/>
              </a:rPr>
              <a:t>Rendu Projet : </a:t>
            </a:r>
            <a:br>
              <a:rPr sz="4400"/>
            </a:br>
            <a:r>
              <a:rPr b="0" lang="en-US" sz="4400" spc="-1" strike="noStrike">
                <a:solidFill>
                  <a:srgbClr val="ffffff"/>
                </a:solidFill>
                <a:latin typeface="Calibri Light"/>
              </a:rPr>
              <a:t>Code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Arc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7550280" y="2452680"/>
            <a:ext cx="4082040" cy="4082040"/>
          </a:xfrm>
          <a:prstGeom prst="arc">
            <a:avLst>
              <a:gd name="adj1" fmla="val 16200000"/>
              <a:gd name="adj2" fmla="val 0"/>
            </a:avLst>
          </a:prstGeom>
          <a:noFill/>
          <a:ln cap="rnd" w="127000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1" name="PlaceHolder 6"/>
          <p:cNvSpPr/>
          <p:nvPr/>
        </p:nvSpPr>
        <p:spPr>
          <a:xfrm>
            <a:off x="4447440" y="591840"/>
            <a:ext cx="6905160" cy="558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fr-FR" sz="1600" spc="-1" strike="noStrike">
                <a:solidFill>
                  <a:schemeClr val="dk1"/>
                </a:solidFill>
                <a:latin typeface="Calibri"/>
              </a:rPr>
              <a:t>Modalités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fr-FR" sz="1600" spc="-1" strike="noStrike">
                <a:solidFill>
                  <a:schemeClr val="dk1"/>
                </a:solidFill>
                <a:latin typeface="Calibri"/>
              </a:rPr>
              <a:t>Rendu vendredi 27 mars au soir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fr-FR" sz="1600" spc="-1" strike="noStrike">
                <a:solidFill>
                  <a:schemeClr val="dk1"/>
                </a:solidFill>
                <a:latin typeface="Calibri"/>
              </a:rPr>
              <a:t>Envoi par mail aux deux enseignants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fr-FR" sz="1600" spc="-1" strike="noStrike">
                <a:solidFill>
                  <a:schemeClr val="dk1"/>
                </a:solidFill>
                <a:latin typeface="Calibri"/>
              </a:rPr>
              <a:t>Conteneurisation avec Docker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90000"/>
              </a:lnSpc>
              <a:spcBef>
                <a:spcPts val="499"/>
              </a:spcBef>
              <a:tabLst>
                <a:tab algn="l" pos="0"/>
              </a:tabLst>
            </a:pP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fr-FR" sz="1600" spc="-1" strike="noStrike">
                <a:solidFill>
                  <a:schemeClr val="dk1"/>
                </a:solidFill>
                <a:latin typeface="Calibri"/>
              </a:rPr>
              <a:t>Code</a:t>
            </a:r>
            <a:r>
              <a:rPr b="0" lang="fr-FR" sz="16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fr-FR" sz="1600" spc="-1" strike="noStrike">
                <a:solidFill>
                  <a:schemeClr val="dk1"/>
                </a:solidFill>
                <a:latin typeface="Calibri"/>
              </a:rPr>
              <a:t>Pipeline IA 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fr-FR" sz="1600" spc="-1" strike="noStrike">
                <a:solidFill>
                  <a:schemeClr val="dk1"/>
                </a:solidFill>
                <a:latin typeface="Calibri"/>
              </a:rPr>
              <a:t>Pipeline Dashboard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fr-FR" sz="1600" spc="-1" strike="noStrike">
                <a:solidFill>
                  <a:schemeClr val="dk1"/>
                </a:solidFill>
                <a:latin typeface="Calibri"/>
              </a:rPr>
              <a:t>Code modulaire + documenté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fr-FR" sz="1600" spc="-1" strike="noStrike">
                <a:solidFill>
                  <a:schemeClr val="dk1"/>
                </a:solidFill>
                <a:latin typeface="Calibri"/>
              </a:rPr>
              <a:t>Pendant votre travail, code exécutable de la manière suivante :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marL="914400" defTabSz="914400">
              <a:lnSpc>
                <a:spcPct val="90000"/>
              </a:lnSpc>
              <a:spcBef>
                <a:spcPts val="499"/>
              </a:spcBef>
              <a:tabLst>
                <a:tab algn="l" pos="0"/>
              </a:tabLst>
            </a:pPr>
            <a:r>
              <a:rPr b="1" lang="fr-FR" sz="1600" spc="-1" strike="noStrike">
                <a:solidFill>
                  <a:schemeClr val="dk1"/>
                </a:solidFill>
                <a:latin typeface="Calibri"/>
              </a:rPr>
              <a:t>1. Installation des différents packages: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fr-FR" sz="1600" spc="-1" strike="noStrike">
                <a:solidFill>
                  <a:schemeClr val="dk1"/>
                </a:solidFill>
                <a:latin typeface="Calibri"/>
              </a:rPr>
              <a:t>pip install –r requirements.txt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marL="914400" defTabSz="914400">
              <a:lnSpc>
                <a:spcPct val="90000"/>
              </a:lnSpc>
              <a:spcBef>
                <a:spcPts val="499"/>
              </a:spcBef>
              <a:tabLst>
                <a:tab algn="l" pos="0"/>
              </a:tabLst>
            </a:pPr>
            <a:r>
              <a:rPr b="1" lang="fr-FR" sz="1600" spc="-1" strike="noStrike">
                <a:solidFill>
                  <a:schemeClr val="dk1"/>
                </a:solidFill>
                <a:latin typeface="Calibri"/>
              </a:rPr>
              <a:t>2. Run Pipeline IA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fr-FR" sz="1600" spc="-1" strike="noStrike">
                <a:solidFill>
                  <a:schemeClr val="dk1"/>
                </a:solidFill>
                <a:latin typeface="Calibri"/>
              </a:rPr>
              <a:t>python pipeline.py –path_data chemin_vers_les_données –path_output chemin_vers_le_dossier_output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marL="914400" defTabSz="914400">
              <a:lnSpc>
                <a:spcPct val="90000"/>
              </a:lnSpc>
              <a:spcBef>
                <a:spcPts val="499"/>
              </a:spcBef>
              <a:tabLst>
                <a:tab algn="l" pos="0"/>
              </a:tabLst>
            </a:pPr>
            <a:r>
              <a:rPr b="1" lang="fr-FR" sz="1600" spc="-1" strike="noStrike">
                <a:solidFill>
                  <a:schemeClr val="dk1"/>
                </a:solidFill>
                <a:latin typeface="Calibri"/>
              </a:rPr>
              <a:t>3. Run Pipeline Dashboard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fr-FR" sz="1600" spc="-1" strike="noStrike">
                <a:solidFill>
                  <a:schemeClr val="dk1"/>
                </a:solidFill>
                <a:latin typeface="Calibri"/>
              </a:rPr>
              <a:t>python dashboard.py –path_data chemin_vers_les_analyse_ia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fr-FR" sz="1600" spc="-1" strike="noStrike">
                <a:solidFill>
                  <a:schemeClr val="dk1"/>
                </a:solidFill>
                <a:latin typeface="Calibri"/>
              </a:rPr>
              <a:t>À envoyer : sortie du pipeline</a:t>
            </a:r>
            <a:r>
              <a:rPr b="0" lang="fr-FR" sz="1600" spc="-1" strike="noStrike">
                <a:solidFill>
                  <a:schemeClr val="dk1"/>
                </a:solidFill>
                <a:latin typeface="Calibri"/>
              </a:rPr>
              <a:t> IA (.xls .csv) pour alimenter 3) chez nous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fr-FR" sz="1600" spc="-1" strike="noStrike">
                <a:solidFill>
                  <a:schemeClr val="dk1"/>
                </a:solidFill>
                <a:latin typeface="Calibri"/>
              </a:rPr>
              <a:t>Pour nous : 1) et 3) via dockerfile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2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80" y="0"/>
            <a:ext cx="12187440" cy="68565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3" name="Freeform: Shap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165920" cy="6856560"/>
          </a:xfrm>
          <a:custGeom>
            <a:avLst/>
            <a:gdLst>
              <a:gd name="textAreaLeft" fmla="*/ 0 w 4165920"/>
              <a:gd name="textAreaRight" fmla="*/ 4167360 w 4165920"/>
              <a:gd name="textAreaTop" fmla="*/ 0 h 6856560"/>
              <a:gd name="textAreaBottom" fmla="*/ 6858000 h 6856560"/>
            </a:gdLst>
            <a:ahLst/>
            <a:rect l="textAreaLeft" t="textAreaTop" r="textAreaRight" b="textAreaBottom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48200" y="1153440"/>
            <a:ext cx="3437640" cy="445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fr-FR" sz="4400" spc="-1" strike="noStrike">
                <a:solidFill>
                  <a:srgbClr val="ffffff"/>
                </a:solidFill>
                <a:latin typeface="Calibri Light"/>
              </a:rPr>
              <a:t>Evaluation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Arc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7550280" y="2452680"/>
            <a:ext cx="4082040" cy="4082040"/>
          </a:xfrm>
          <a:prstGeom prst="arc">
            <a:avLst>
              <a:gd name="adj1" fmla="val 16200000"/>
              <a:gd name="adj2" fmla="val 0"/>
            </a:avLst>
          </a:prstGeom>
          <a:noFill/>
          <a:ln cap="rnd" w="127000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4165920" y="180000"/>
            <a:ext cx="7894080" cy="62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fr-FR" sz="1600" spc="-1" strike="noStrike">
                <a:solidFill>
                  <a:schemeClr val="dk1"/>
                </a:solidFill>
                <a:latin typeface="Calibri"/>
              </a:rPr>
              <a:t>Code : 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600" spc="-1" strike="noStrike">
                <a:solidFill>
                  <a:schemeClr val="dk1"/>
                </a:solidFill>
                <a:latin typeface="Calibri"/>
              </a:rPr>
              <a:t>Respect des consignes, des fichiers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600" spc="-1" strike="noStrike">
                <a:solidFill>
                  <a:schemeClr val="dk1"/>
                </a:solidFill>
                <a:latin typeface="Calibri"/>
              </a:rPr>
              <a:t>Compile bien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600" spc="-1" strike="noStrike">
                <a:solidFill>
                  <a:schemeClr val="dk1"/>
                </a:solidFill>
                <a:latin typeface="Calibri"/>
              </a:rPr>
              <a:t>Contenu bien organisé, fonctionnalités, architecture de code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marL="2160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marL="2160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fr-FR" sz="1600" spc="-1" strike="noStrike">
                <a:solidFill>
                  <a:schemeClr val="dk1"/>
                </a:solidFill>
                <a:latin typeface="Calibri"/>
              </a:rPr>
              <a:t>Visualisation : 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600" spc="-1" strike="noStrike">
                <a:solidFill>
                  <a:schemeClr val="dk1"/>
                </a:solidFill>
                <a:latin typeface="Calibri"/>
              </a:rPr>
              <a:t>Minimum : streamlit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600" spc="-1" strike="noStrike">
                <a:solidFill>
                  <a:schemeClr val="dk1"/>
                </a:solidFill>
                <a:latin typeface="Calibri"/>
              </a:rPr>
              <a:t>Améliorations possibles : site web, react, etc. 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marL="2160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marL="2160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fr-FR" sz="1600" spc="-1" strike="noStrike">
                <a:solidFill>
                  <a:schemeClr val="dk1"/>
                </a:solidFill>
                <a:latin typeface="Calibri"/>
              </a:rPr>
              <a:t>Conteneurisation : 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600" spc="-1" strike="noStrike">
                <a:solidFill>
                  <a:schemeClr val="dk1"/>
                </a:solidFill>
                <a:latin typeface="Calibri"/>
              </a:rPr>
              <a:t>Minimum : dockerfile</a:t>
            </a:r>
            <a:br>
              <a:rPr sz="1600"/>
            </a:br>
            <a:r>
              <a:rPr b="0" lang="fr-FR" sz="1600" spc="-1" strike="noStrike" u="sng">
                <a:solidFill>
                  <a:schemeClr val="dk1"/>
                </a:solidFill>
                <a:uFillTx/>
                <a:latin typeface="Calibri"/>
                <a:hlinkClick r:id="rId1"/>
              </a:rPr>
              <a:t>https://www.pythoniste.fr/docker/deployer-une-application-python-avec-docker/</a:t>
            </a:r>
            <a:br>
              <a:rPr sz="1600"/>
            </a:br>
            <a:r>
              <a:rPr b="0" lang="fr-FR" sz="1600" spc="-1" strike="noStrike" u="sng">
                <a:solidFill>
                  <a:schemeClr val="dk1"/>
                </a:solidFill>
                <a:uFillTx/>
                <a:latin typeface="Calibri"/>
                <a:hlinkClick r:id="rId2"/>
              </a:rPr>
              <a:t>https://docs.docker.com/get-started/docker-concepts/building-images/writing-a-dockerfile/</a:t>
            </a:r>
            <a:br>
              <a:rPr sz="1600"/>
            </a:br>
            <a:r>
              <a:rPr b="0" lang="fr-FR" sz="1600" spc="-1" strike="noStrike" u="sng">
                <a:solidFill>
                  <a:schemeClr val="dk1"/>
                </a:solidFill>
                <a:uFillTx/>
                <a:latin typeface="Calibri"/>
                <a:hlinkClick r:id="rId3"/>
              </a:rPr>
              <a:t>https://docs.docker.com/guides/python/containerize/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600" spc="-1" strike="noStrike">
                <a:solidFill>
                  <a:schemeClr val="dk1"/>
                </a:solidFill>
                <a:latin typeface="Calibri"/>
              </a:rPr>
              <a:t>Améliorations possibles : sur dockerHub, sur un cloud (GCP, Azur, AWS)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marL="2160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marL="2160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fr-FR" sz="1600" spc="-1" strike="noStrike">
                <a:solidFill>
                  <a:schemeClr val="dk1"/>
                </a:solidFill>
                <a:latin typeface="Calibri"/>
              </a:rPr>
              <a:t>Rapport : 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600" spc="-1" strike="noStrike">
                <a:solidFill>
                  <a:schemeClr val="dk1"/>
                </a:solidFill>
                <a:latin typeface="Calibri"/>
              </a:rPr>
              <a:t>Démarche scientifique et technique bien expliquée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600" spc="-1" strike="noStrike">
                <a:solidFill>
                  <a:schemeClr val="dk1"/>
                </a:solidFill>
                <a:latin typeface="Calibri"/>
              </a:rPr>
              <a:t>Présentation et justification du choix des modèles, features, métriques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600" spc="-1" strike="noStrike">
                <a:solidFill>
                  <a:schemeClr val="dk1"/>
                </a:solidFill>
                <a:latin typeface="Calibri"/>
              </a:rPr>
              <a:t>Présentation, esthétique, grammaire et orthographe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2619</TotalTime>
  <Application>LibreOffice/24.2.7.2$Linux_X86_64 LibreOffice_project/420$Build-2</Application>
  <AppVersion>15.0000</AppVersion>
  <Words>371</Words>
  <Paragraphs>49</Paragraphs>
  <Company>LCL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2024-03-18T14:47:27Z</dcterms:created>
  <dc:creator>HENG Daro (LCL)</dc:creator>
  <dc:description/>
  <dc:language>fr-FR</dc:language>
  <cp:lastModifiedBy/>
  <dcterms:modified xsi:type="dcterms:W3CDTF">2026-01-23T12:25:09Z</dcterms:modified>
  <cp:revision>30</cp:revision>
  <dc:subject/>
  <dc:title>TP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cad6431-53ea-4466-8111-3fefa470bcb9_ActionId">
    <vt:lpwstr>33222426-9ff2-4b9e-affe-a06072fa9398</vt:lpwstr>
  </property>
  <property fmtid="{D5CDD505-2E9C-101B-9397-08002B2CF9AE}" pid="3" name="MSIP_Label_4cad6431-53ea-4466-8111-3fefa470bcb9_ContentBits">
    <vt:lpwstr>0</vt:lpwstr>
  </property>
  <property fmtid="{D5CDD505-2E9C-101B-9397-08002B2CF9AE}" pid="4" name="MSIP_Label_4cad6431-53ea-4466-8111-3fefa470bcb9_Enabled">
    <vt:lpwstr>true</vt:lpwstr>
  </property>
  <property fmtid="{D5CDD505-2E9C-101B-9397-08002B2CF9AE}" pid="5" name="MSIP_Label_4cad6431-53ea-4466-8111-3fefa470bcb9_Method">
    <vt:lpwstr>Standard</vt:lpwstr>
  </property>
  <property fmtid="{D5CDD505-2E9C-101B-9397-08002B2CF9AE}" pid="6" name="MSIP_Label_4cad6431-53ea-4466-8111-3fefa470bcb9_Name">
    <vt:lpwstr>Usage Interne</vt:lpwstr>
  </property>
  <property fmtid="{D5CDD505-2E9C-101B-9397-08002B2CF9AE}" pid="7" name="MSIP_Label_4cad6431-53ea-4466-8111-3fefa470bcb9_SetDate">
    <vt:lpwstr>2024-03-18T14:47:28Z</vt:lpwstr>
  </property>
  <property fmtid="{D5CDD505-2E9C-101B-9397-08002B2CF9AE}" pid="8" name="MSIP_Label_4cad6431-53ea-4466-8111-3fefa470bcb9_SiteId">
    <vt:lpwstr>fb3baf17-c313-474c-8d5d-577a3ec97a32</vt:lpwstr>
  </property>
  <property fmtid="{D5CDD505-2E9C-101B-9397-08002B2CF9AE}" pid="9" name="PresentationFormat">
    <vt:lpwstr>Grand écran</vt:lpwstr>
  </property>
  <property fmtid="{D5CDD505-2E9C-101B-9397-08002B2CF9AE}" pid="10" name="Slides">
    <vt:i4>5</vt:i4>
  </property>
</Properties>
</file>